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4" r:id="rId1"/>
  </p:sldMasterIdLst>
  <p:sldIdLst>
    <p:sldId id="256" r:id="rId2"/>
    <p:sldId id="257" r:id="rId3"/>
    <p:sldId id="263" r:id="rId4"/>
    <p:sldId id="258" r:id="rId5"/>
    <p:sldId id="264" r:id="rId6"/>
    <p:sldId id="265" r:id="rId7"/>
    <p:sldId id="259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lu olusooto" initials="to" lastIdx="1" clrIdx="0">
    <p:extLst>
      <p:ext uri="{19B8F6BF-5375-455C-9EA6-DF929625EA0E}">
        <p15:presenceInfo xmlns:p15="http://schemas.microsoft.com/office/powerpoint/2012/main" userId="c6ac9ca9457a581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75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409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134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72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772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476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63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901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2/21/2025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30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174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342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688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5047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973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5587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911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713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88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1016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7DF4F-C862-4EFF-ADC3-90F17A53A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2532" y="1099608"/>
            <a:ext cx="7766936" cy="2977091"/>
          </a:xfrm>
        </p:spPr>
        <p:txBody>
          <a:bodyPr/>
          <a:lstStyle/>
          <a:p>
            <a:pPr algn="ctr"/>
            <a:r>
              <a:rPr lang="en-US" sz="4000" dirty="0"/>
              <a:t>Optimizing Email Targeting for Miles Promotion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96B387-3A99-404A-8B86-45FB469212AD}"/>
              </a:ext>
            </a:extLst>
          </p:cNvPr>
          <p:cNvSpPr/>
          <p:nvPr/>
        </p:nvSpPr>
        <p:spPr>
          <a:xfrm>
            <a:off x="3076574" y="4810125"/>
            <a:ext cx="6902893" cy="1247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Tolu Olusooto</a:t>
            </a:r>
          </a:p>
          <a:p>
            <a:pPr algn="ctr"/>
            <a:r>
              <a:rPr lang="en-US" sz="2000" dirty="0" err="1"/>
              <a:t>Plusgrade</a:t>
            </a:r>
            <a:endParaRPr lang="en-US" sz="2000" dirty="0"/>
          </a:p>
          <a:p>
            <a:pPr algn="ctr"/>
            <a:r>
              <a:rPr lang="en-US" sz="2000" dirty="0"/>
              <a:t>Feb 21, 2025</a:t>
            </a:r>
          </a:p>
        </p:txBody>
      </p:sp>
    </p:spTree>
    <p:extLst>
      <p:ext uri="{BB962C8B-B14F-4D97-AF65-F5344CB8AC3E}">
        <p14:creationId xmlns:p14="http://schemas.microsoft.com/office/powerpoint/2010/main" val="485440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9678C-BFFE-4725-9759-DCFEA890A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66201-21B9-43A2-9117-B0FD56A13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Marketing department is launching a </a:t>
            </a:r>
            <a:r>
              <a:rPr lang="en-US" b="1" dirty="0"/>
              <a:t>Miles Promotion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500K total members</a:t>
            </a:r>
            <a:r>
              <a:rPr lang="en-US" dirty="0"/>
              <a:t>, but </a:t>
            </a:r>
            <a:r>
              <a:rPr lang="en-US" b="1" dirty="0"/>
              <a:t>only 100K can receive the promotional email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Goal: </a:t>
            </a:r>
            <a:r>
              <a:rPr lang="en-US" b="1" dirty="0"/>
              <a:t>Develop a propensity model</a:t>
            </a:r>
            <a:r>
              <a:rPr lang="en-US" dirty="0"/>
              <a:t> to identify members most likely to engage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 target variable: </a:t>
            </a:r>
            <a:r>
              <a:rPr lang="en-US" b="1" dirty="0"/>
              <a:t>"</a:t>
            </a:r>
            <a:r>
              <a:rPr lang="en-US" b="1" dirty="0" err="1"/>
              <a:t>cur_target</a:t>
            </a:r>
            <a:r>
              <a:rPr lang="en-US" b="1" dirty="0"/>
              <a:t>"</a:t>
            </a:r>
            <a:r>
              <a:rPr lang="en-US" dirty="0"/>
              <a:t> (1 = member transacted in the campaign)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98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7BA4A-69F2-38BA-F70E-4B8E2687C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6C8ED-7BC4-3D7E-0B5B-04908EC39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329051"/>
            <a:ext cx="9404723" cy="1400530"/>
          </a:xfrm>
        </p:spPr>
        <p:txBody>
          <a:bodyPr/>
          <a:lstStyle/>
          <a:p>
            <a:r>
              <a:rPr lang="en-CA" dirty="0"/>
              <a:t>Data Overview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0EB33F-D104-0899-26CE-A614DF3BE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1900" dirty="0"/>
              <a:t>Training data includes </a:t>
            </a:r>
            <a:r>
              <a:rPr lang="en-CA" sz="1900" b="1" dirty="0"/>
              <a:t>historical transactions, demographics, and engagement features</a:t>
            </a:r>
            <a:endParaRPr lang="en-CA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CA" sz="1900" b="1" dirty="0"/>
              <a:t>Key data types: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 dirty="0"/>
              <a:t>Flight Activity</a:t>
            </a:r>
            <a:r>
              <a:rPr lang="en-US" sz="1900" dirty="0"/>
              <a:t>: Number of segments flown, promo flights, base flights.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 dirty="0"/>
              <a:t>Spending Behavior</a:t>
            </a:r>
            <a:r>
              <a:rPr lang="en-US" sz="1900" dirty="0"/>
              <a:t>: Affinity spend, non-flight miles earned/redeemed, partner miles.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900" b="1" dirty="0"/>
              <a:t>Membership attributes</a:t>
            </a:r>
            <a:r>
              <a:rPr lang="en-CA" sz="1900" dirty="0"/>
              <a:t> (e.g., enrollment date, current tier, email subscriptions)</a:t>
            </a:r>
          </a:p>
          <a:p>
            <a:r>
              <a:rPr lang="en-US" sz="1900" b="1" dirty="0"/>
              <a:t>Data Distribution Insights: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/>
              <a:t>Imbalanced target variable: </a:t>
            </a:r>
            <a:r>
              <a:rPr lang="en-US" sz="1900" b="1" dirty="0"/>
              <a:t>Low conversion rate (&lt;1%)</a:t>
            </a:r>
            <a:r>
              <a:rPr lang="en-US" sz="1900" dirty="0"/>
              <a:t> in historical data.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b="1" dirty="0"/>
              <a:t>Skewed distributions</a:t>
            </a:r>
            <a:r>
              <a:rPr lang="en-US" sz="1900" dirty="0"/>
              <a:t>: Spending, miles earned, and flight activity show long-tail distributions.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/>
              <a:t>Most members have low engagement levels</a:t>
            </a:r>
          </a:p>
          <a:p>
            <a:pPr marL="457200" lvl="1" indent="0">
              <a:buNone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37520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01AFF-6C48-4DBE-95D8-CA62ED764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329051"/>
            <a:ext cx="9404723" cy="1400530"/>
          </a:xfrm>
        </p:spPr>
        <p:txBody>
          <a:bodyPr/>
          <a:lstStyle/>
          <a:p>
            <a:r>
              <a:rPr lang="en-CA" dirty="0"/>
              <a:t>Data Overview Cont’d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165836-FB05-5949-92B1-8611A4A7A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350" y="1523529"/>
            <a:ext cx="8946541" cy="444413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b="1" dirty="0"/>
          </a:p>
          <a:p>
            <a:r>
              <a:rPr lang="en-US" sz="1800" b="1" dirty="0"/>
              <a:t>Missing Data Considerations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Date of birth (&lt;1%) took the median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Indicator Variables</a:t>
            </a:r>
            <a:r>
              <a:rPr lang="en-US" dirty="0"/>
              <a:t>: For missing categorical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Segmenting missing from actual data </a:t>
            </a:r>
            <a:r>
              <a:rPr lang="en-US" dirty="0"/>
              <a:t>via large value imputation</a:t>
            </a:r>
          </a:p>
          <a:p>
            <a:endParaRPr lang="en-US" sz="1800" b="1" dirty="0"/>
          </a:p>
          <a:p>
            <a:r>
              <a:rPr lang="en-US" sz="1800" b="1" dirty="0"/>
              <a:t>Potential Data Leakage Risks</a:t>
            </a:r>
          </a:p>
          <a:p>
            <a:pPr lvl="1"/>
            <a:r>
              <a:rPr lang="en-US" b="1" dirty="0"/>
              <a:t>3 feature were in the same time period </a:t>
            </a:r>
            <a:r>
              <a:rPr lang="en-US" dirty="0"/>
              <a:t>as the promotion </a:t>
            </a:r>
          </a:p>
          <a:p>
            <a:pPr lvl="2"/>
            <a:r>
              <a:rPr lang="en-US" sz="1800" b="1" dirty="0"/>
              <a:t>Average price transacted</a:t>
            </a:r>
            <a:r>
              <a:rPr lang="en-US" sz="1800" dirty="0"/>
              <a:t> with during the promo period</a:t>
            </a:r>
          </a:p>
          <a:p>
            <a:pPr lvl="2"/>
            <a:r>
              <a:rPr lang="en-US" sz="1800" b="1" dirty="0"/>
              <a:t>How often and when did the member visit the site </a:t>
            </a:r>
            <a:r>
              <a:rPr lang="en-US" sz="1800" dirty="0"/>
              <a:t>during the promo period</a:t>
            </a:r>
          </a:p>
          <a:p>
            <a:pPr marL="457200" lvl="1" indent="0">
              <a:buNone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87207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11AA7-DA2E-6E04-12B2-03D7AB970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F0573-2649-1403-10F3-F7E4CB045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329051"/>
            <a:ext cx="9404723" cy="1400530"/>
          </a:xfrm>
        </p:spPr>
        <p:txBody>
          <a:bodyPr/>
          <a:lstStyle/>
          <a:p>
            <a:r>
              <a:rPr lang="en-US" dirty="0"/>
              <a:t>F</a:t>
            </a:r>
            <a:r>
              <a:rPr lang="en-CA" dirty="0"/>
              <a:t>eature Engineering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91A256-146D-EC8E-D15E-1DAB62BBA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350" y="1523529"/>
            <a:ext cx="8946541" cy="444413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Feature Correlations &amp; Engineering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Highly correlated features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Flight segments, promo flights, and base flights</a:t>
            </a:r>
            <a:r>
              <a:rPr lang="en-US" dirty="0"/>
              <a:t> (r &gt; 0.90) → Combined into </a:t>
            </a:r>
            <a:r>
              <a:rPr lang="en-US" dirty="0" err="1"/>
              <a:t>flight_activity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Affinity spend &amp; non-flight miles earned</a:t>
            </a:r>
            <a:r>
              <a:rPr lang="en-US" dirty="0"/>
              <a:t> (r &gt; 0.96) → aggregated into </a:t>
            </a:r>
            <a:r>
              <a:rPr lang="en-US" dirty="0" err="1"/>
              <a:t>non_flight_activity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Removed 3 month specific features: </a:t>
            </a:r>
            <a:r>
              <a:rPr lang="en-US" dirty="0"/>
              <a:t>Weaker and redundant compared to 12 month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Derived Features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Date features</a:t>
            </a:r>
            <a:r>
              <a:rPr lang="en-US" dirty="0"/>
              <a:t>: Converted to numerical value representation of the 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Normalized and scaled numerical variables</a:t>
            </a:r>
            <a:r>
              <a:rPr lang="en-US" dirty="0"/>
              <a:t> (</a:t>
            </a:r>
            <a:r>
              <a:rPr lang="en-US" dirty="0" err="1"/>
              <a:t>MinMax</a:t>
            </a:r>
            <a:r>
              <a:rPr lang="en-US" dirty="0"/>
              <a:t> Scaling, log transformation)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Encoded categorical variables</a:t>
            </a:r>
            <a:r>
              <a:rPr lang="en-US" dirty="0"/>
              <a:t> (Ordinal for tiers, One-Hot for opt-ins)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17784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D7E4D-73A6-1C80-06B6-2FF0A7C3E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351BE-92DD-FBF4-1FF0-4A6678CE5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CA" dirty="0"/>
              <a:t>eature Section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7A87E-3D4F-6819-0D7D-A51E0E0C55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 err="1"/>
              <a:t>XgBoost</a:t>
            </a:r>
            <a:r>
              <a:rPr lang="en-US" b="1" dirty="0"/>
              <a:t> Feature Selection: </a:t>
            </a:r>
            <a:r>
              <a:rPr lang="en-US" dirty="0"/>
              <a:t>Handles missing values </a:t>
            </a:r>
          </a:p>
          <a:p>
            <a:pPr lvl="1"/>
            <a:r>
              <a:rPr lang="en-US" b="1" dirty="0"/>
              <a:t>Feature Importance: </a:t>
            </a:r>
            <a:r>
              <a:rPr lang="en-US" dirty="0"/>
              <a:t>If largely missing feature worth imputing </a:t>
            </a:r>
          </a:p>
          <a:p>
            <a:pPr lvl="2"/>
            <a:r>
              <a:rPr lang="en-US" b="1" dirty="0"/>
              <a:t>Tested the effectiveness of derived features and relevance of </a:t>
            </a:r>
            <a:r>
              <a:rPr lang="en-US" b="1" dirty="0" err="1"/>
              <a:t>orginal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Highly correlated features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Flight segments, promo flights, and base flights</a:t>
            </a:r>
            <a:r>
              <a:rPr lang="en-US" dirty="0"/>
              <a:t> (r &gt; 0.90) → Combined into </a:t>
            </a:r>
            <a:r>
              <a:rPr lang="en-US" dirty="0" err="1"/>
              <a:t>flight_activity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Affinity spend &amp; non-flight miles earned</a:t>
            </a:r>
            <a:r>
              <a:rPr lang="en-US" dirty="0"/>
              <a:t> (r &gt; 0.96) → aggregated into </a:t>
            </a:r>
            <a:r>
              <a:rPr lang="en-US" dirty="0" err="1"/>
              <a:t>non_flight_activity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Removed 3 month specific features: </a:t>
            </a:r>
            <a:r>
              <a:rPr lang="en-US" dirty="0"/>
              <a:t>Weaker and redundant compared to 12 month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Derived Features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Date features</a:t>
            </a:r>
            <a:r>
              <a:rPr lang="en-US" dirty="0"/>
              <a:t>: Converted to numerical value representation of the time.</a:t>
            </a:r>
            <a:endParaRPr lang="en-C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A654714-E457-4AD5-A720-DB6858DF5F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54675" y="1853248"/>
            <a:ext cx="6403606" cy="4624554"/>
          </a:xfrm>
        </p:spPr>
      </p:pic>
    </p:spTree>
    <p:extLst>
      <p:ext uri="{BB962C8B-B14F-4D97-AF65-F5344CB8AC3E}">
        <p14:creationId xmlns:p14="http://schemas.microsoft.com/office/powerpoint/2010/main" val="1459855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C8F7F-920E-46F7-AA62-962A6ABA3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852D6-5ADC-4344-ABF2-DE2A680E0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Multiple models trained and compared:</a:t>
            </a:r>
          </a:p>
          <a:p>
            <a:pPr lvl="1"/>
            <a:r>
              <a:rPr lang="en-US" b="1" dirty="0"/>
              <a:t>Logistic</a:t>
            </a:r>
            <a:r>
              <a:rPr lang="en-US" dirty="0"/>
              <a:t> Regression (Baseline and in case feature to target relationship is strongly linear)</a:t>
            </a:r>
          </a:p>
          <a:p>
            <a:pPr lvl="1"/>
            <a:r>
              <a:rPr lang="en-US" b="1" dirty="0" err="1"/>
              <a:t>XGBoost</a:t>
            </a:r>
            <a:r>
              <a:rPr lang="en-US" dirty="0"/>
              <a:t> (Boosted decision tree, handles non-linearity well)</a:t>
            </a:r>
          </a:p>
          <a:p>
            <a:pPr lvl="1"/>
            <a:r>
              <a:rPr lang="en-US" b="1" dirty="0" err="1"/>
              <a:t>LightGBM</a:t>
            </a:r>
            <a:r>
              <a:rPr lang="en-US" dirty="0"/>
              <a:t> (Faster gradient boosting with better handling of imbalanced data)</a:t>
            </a:r>
          </a:p>
          <a:p>
            <a:pPr lvl="1"/>
            <a:r>
              <a:rPr lang="en-US" b="1" dirty="0"/>
              <a:t>Balanced Random Forest </a:t>
            </a:r>
            <a:r>
              <a:rPr lang="en-US" dirty="0"/>
              <a:t>(Resampling technique for class imbalance)</a:t>
            </a:r>
          </a:p>
          <a:p>
            <a:pPr lvl="1"/>
            <a:r>
              <a:rPr lang="en-US" b="1" dirty="0"/>
              <a:t>Hyperparameter tuning</a:t>
            </a:r>
            <a:r>
              <a:rPr lang="en-US" dirty="0"/>
              <a:t> via </a:t>
            </a:r>
            <a:r>
              <a:rPr lang="en-US" dirty="0" err="1"/>
              <a:t>GridSearchCV</a:t>
            </a:r>
            <a:endParaRPr lang="en-US" dirty="0"/>
          </a:p>
          <a:p>
            <a:pPr lvl="1"/>
            <a:r>
              <a:rPr lang="en-US" b="1" dirty="0"/>
              <a:t>Class imbalance </a:t>
            </a:r>
            <a:r>
              <a:rPr lang="en-US" dirty="0"/>
              <a:t>addressed using weighted loss functions and resampling</a:t>
            </a:r>
          </a:p>
        </p:txBody>
      </p:sp>
    </p:spTree>
    <p:extLst>
      <p:ext uri="{BB962C8B-B14F-4D97-AF65-F5344CB8AC3E}">
        <p14:creationId xmlns:p14="http://schemas.microsoft.com/office/powerpoint/2010/main" val="148624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50DDC-E158-BDED-FDB8-191E6B06F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54E51-C28F-70A1-7A0C-49870EC3B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Model Performance Metrics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C62FD-62E0-3444-5CE0-A7A5EC74A3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Evaluated using:</a:t>
            </a:r>
          </a:p>
          <a:p>
            <a:r>
              <a:rPr lang="en-US" b="1" dirty="0"/>
              <a:t>Precision-Recall AUC: </a:t>
            </a:r>
            <a:r>
              <a:rPr lang="en-US" dirty="0"/>
              <a:t>(due to class imbalance)</a:t>
            </a:r>
          </a:p>
          <a:p>
            <a:r>
              <a:rPr lang="en-US" b="1" dirty="0"/>
              <a:t>Lift Score: </a:t>
            </a:r>
            <a:r>
              <a:rPr lang="en-US" dirty="0"/>
              <a:t>(Measures effectiveness in prioritizing high-converting members) </a:t>
            </a:r>
          </a:p>
          <a:p>
            <a:r>
              <a:rPr lang="en-US" dirty="0"/>
              <a:t>F1-score, Accuracy, Precision, Recall </a:t>
            </a:r>
          </a:p>
          <a:p>
            <a:r>
              <a:rPr lang="en-US" b="1" dirty="0"/>
              <a:t>Key takeaway</a:t>
            </a:r>
            <a:r>
              <a:rPr lang="en-US" dirty="0"/>
              <a:t>: Balanced Random Forest performed best followed by </a:t>
            </a:r>
            <a:r>
              <a:rPr lang="en-US" dirty="0" err="1"/>
              <a:t>XGBoost</a:t>
            </a:r>
            <a:endParaRPr lang="en-US" dirty="0"/>
          </a:p>
          <a:p>
            <a:pPr lvl="1"/>
            <a:r>
              <a:rPr lang="en-US" b="1" dirty="0"/>
              <a:t>Lift Score: ~5.7</a:t>
            </a:r>
          </a:p>
          <a:p>
            <a:pPr lvl="1"/>
            <a:r>
              <a:rPr lang="en-US" b="1" dirty="0"/>
              <a:t>Recall: ~0.98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15E9FBA-DB19-F8DF-0E32-37B7F42C6BA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7373956" y="1278111"/>
            <a:ext cx="4395788" cy="278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7DB3FF-7A7A-AA3D-15F9-76C54A43A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956" y="4058720"/>
            <a:ext cx="4234053" cy="272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524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3A29-94D8-C280-78EB-9CA0DCA6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A418-942F-0CDE-23CA-CD0FA055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ED21A-CF1E-3EB3-9BA1-CBF565A3A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Insights:</a:t>
            </a:r>
          </a:p>
          <a:p>
            <a:pPr lvl="1"/>
            <a:r>
              <a:rPr lang="en-US" dirty="0"/>
              <a:t>Higher-tier members &amp; frequent flyers are more likely to engage</a:t>
            </a:r>
          </a:p>
          <a:p>
            <a:pPr lvl="1"/>
            <a:r>
              <a:rPr lang="en-US" dirty="0"/>
              <a:t>Spending efficiency &amp; past promo engagement are strong predictors</a:t>
            </a:r>
          </a:p>
          <a:p>
            <a:pPr lvl="1"/>
            <a:r>
              <a:rPr lang="en-US" dirty="0"/>
              <a:t>Long time members are more engaged</a:t>
            </a:r>
          </a:p>
          <a:p>
            <a:r>
              <a:rPr lang="en-US" b="1" dirty="0"/>
              <a:t>Recommendations:</a:t>
            </a:r>
          </a:p>
          <a:p>
            <a:pPr lvl="1"/>
            <a:r>
              <a:rPr lang="en-US" dirty="0"/>
              <a:t>Target members in top deciles for maximum impact</a:t>
            </a:r>
          </a:p>
          <a:p>
            <a:pPr lvl="1"/>
            <a:r>
              <a:rPr lang="en-US" dirty="0"/>
              <a:t>Refine marketing strategy based on engagement trends</a:t>
            </a:r>
          </a:p>
          <a:p>
            <a:pPr lvl="1"/>
            <a:r>
              <a:rPr lang="en-US" b="1" dirty="0"/>
              <a:t>A/B testing</a:t>
            </a:r>
            <a:r>
              <a:rPr lang="en-US" dirty="0"/>
              <a:t> on selected vs. non-selected members.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Impact of Model: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Identifies </a:t>
            </a:r>
            <a:r>
              <a:rPr lang="en-US" b="1" dirty="0"/>
              <a:t>high-propensity members</a:t>
            </a:r>
            <a:r>
              <a:rPr lang="en-US" dirty="0"/>
              <a:t> for email targeting.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Enables </a:t>
            </a:r>
            <a:r>
              <a:rPr lang="en-US" b="1" dirty="0"/>
              <a:t>efficient allocation of marketing budget</a:t>
            </a:r>
            <a:r>
              <a:rPr lang="en-US" dirty="0"/>
              <a:t> by focusing on top segments.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Reduces </a:t>
            </a:r>
            <a:r>
              <a:rPr lang="en-US" b="1" dirty="0"/>
              <a:t>email fatigue</a:t>
            </a:r>
            <a:r>
              <a:rPr lang="en-US" dirty="0"/>
              <a:t> by eliminating low-propensity members.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834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69FF3-C369-5223-808F-3593503C1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 b="1" dirty="0"/>
              <a:t>Q&amp;A</a:t>
            </a:r>
            <a:endParaRPr lang="en-CA" sz="60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FB8A3-420D-D548-17AA-0D0C9D572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85498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752</TotalTime>
  <Words>655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Optimizing Email Targeting for Miles Promotion</vt:lpstr>
      <vt:lpstr>Business Problem</vt:lpstr>
      <vt:lpstr>Data Overview</vt:lpstr>
      <vt:lpstr>Data Overview Cont’d</vt:lpstr>
      <vt:lpstr>Feature Engineering</vt:lpstr>
      <vt:lpstr>Feature Section</vt:lpstr>
      <vt:lpstr>Model Approach</vt:lpstr>
      <vt:lpstr>Model Performance Metrics</vt:lpstr>
      <vt:lpstr>Key Insights &amp; Recommendations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Classification with Naive Bayes and Gradient Boosted Machines</dc:title>
  <dc:creator>tolu olusooto</dc:creator>
  <cp:lastModifiedBy>tolu olusooto</cp:lastModifiedBy>
  <cp:revision>14</cp:revision>
  <dcterms:created xsi:type="dcterms:W3CDTF">2021-12-07T01:59:30Z</dcterms:created>
  <dcterms:modified xsi:type="dcterms:W3CDTF">2025-02-21T14:50:21Z</dcterms:modified>
</cp:coreProperties>
</file>